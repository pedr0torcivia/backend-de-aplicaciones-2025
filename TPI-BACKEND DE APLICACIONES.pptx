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61" r:id="rId4"/>
    <p:sldId id="267" r:id="rId5"/>
    <p:sldId id="262" r:id="rId6"/>
    <p:sldId id="263" r:id="rId7"/>
    <p:sldId id="265" r:id="rId8"/>
    <p:sldId id="266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>
        <p:scale>
          <a:sx n="66" d="100"/>
          <a:sy n="66" d="100"/>
        </p:scale>
        <p:origin x="44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0D7B7-9736-47BC-A524-95F67B825E34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47281-B05E-4453-8934-22827525D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679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47281-B05E-4453-8934-22827525D10C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8403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21C56-7C7E-3A84-F770-1D0DDF38C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7FAE4D-4E4A-B72C-156A-163BDB516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7BC71D-F31E-2AF9-BA25-CE6EB71D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E0209F-00D8-5058-18C0-BE012F24F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28E47A-985E-870E-C25B-59E71ADB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752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FC373-EAB9-925A-3DF6-19367A6E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CF63BA-37B2-857C-C277-3365CCA5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95C39E-124B-2F6E-2432-6A0870EF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3930BC-550E-DD7F-8B3D-1B48E327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F49079-63C1-7325-74B8-8F3E50E5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864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180D8-053D-6177-5530-05CBEECE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E20BDB-6ABD-8263-F71A-1E29EE913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F240A0-BED8-DDC8-5E9C-61174613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3CD8C2-11A1-3E35-8597-DA21C177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B3EAF1-0315-12EF-2E73-211C9D7D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724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9FADC-1B12-6494-E656-4081F3A9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8BE575-B571-5FF3-67DA-EFAB3FB46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8FFE7C-C27C-EDD7-C3F7-0F11139AA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026E3E-31D6-D699-3CF4-0BEBD254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C092C7-80DA-48C7-7BF4-1FAE8326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32C4FD-C324-8741-C797-0859BDE8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234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6E343-676B-05CF-E1AA-996D7248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7115A6-8C5B-9B6C-E7EA-62B16B198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DC16D0-988B-A3C1-94B3-9D90744CB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B5003C-86EF-328A-CF29-B271C7EC6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395A136-8E21-9734-79A4-312076657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3F4A60-4EF9-32E5-1BAE-75F428EE2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92C3C60-4868-C3AA-8866-334FE8711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0FE3A7-3488-B192-32B2-514C4F6D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927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3F1C5-5559-BD32-4CF4-B1B5F8CA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2E935D-07E7-C694-42AA-C35CD03E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16F6031-E079-596A-0797-583859AC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3EBCE4-9104-1FD8-C900-24C00C8A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735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05AB1B-59C0-EA85-470B-B58D18BE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CF3845-7544-C6DC-B7FE-5ACF9668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8BB0F4-0EB9-7598-B3FA-2D1B2A2A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738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EFB47-E223-F1B1-11C0-C90F81F78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CAFD15-95AA-99C2-D3D5-E2DACF3A8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4D0B1A-D1EA-2C2B-D44D-62F40B0DD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776606-01E9-5918-F63D-A5BC3049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EE6061-3E9F-81B8-5AF9-1112384D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688C4A-4017-47CC-99E2-BCF4EE87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668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18A56-AC30-5C37-4DFF-AEA298F5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AFE753-5E26-841F-6B87-49D535BF7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9877D8-5E58-977A-5701-78D12E9B8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10E94C-A7D8-68DF-1153-053B41A27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37DE02-5711-B015-E0CF-6091E813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3AB881-9AD0-96A7-4AF3-B3F51BDBF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609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C9BD2-13D4-3F67-FCF8-7D498064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FF2422-BC5D-2A75-C6C2-530FE7DEF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1663AA-C215-91AE-5C14-A803573C1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1DDF88-1D8F-9A71-E00C-0E0B8123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27FDF3-E05D-4318-AE14-521EE684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2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9C06AB-1698-3893-364A-0724CAC77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AD8F70-C237-6C74-0BF7-25C0E629D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B4BC3D-DDD5-7411-D365-B8A4726CD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281EC0-800E-D307-9B74-587CA262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CC7A60-6445-6739-FF0E-DA62BE78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686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98AA5AC-BB0D-4BE7-B97E-AEC387C3A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797FE2-A054-1774-D7C0-4C49719C7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9C26C0-1AB8-EFAA-2D23-C423E996F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69869-C0AC-4F05-8281-8C67930175B1}" type="datetimeFigureOut">
              <a:rPr lang="es-AR" smtClean="0"/>
              <a:t>16/10/2025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CA7DC-F140-A2D8-DDC4-3F7BCA425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6E67A3-89E7-6A06-01C2-940BB31C8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48113-DC48-46D3-8020-BB5DE3376F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063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A124C-CEAE-49DE-FF6F-E8240C058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s-AR" sz="7200" b="1"/>
              <a:t>TPI-BACKEND DE APLICACIONES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EB3F3E-B806-E405-3728-3BABF6E46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s-AR" sz="2800"/>
              <a:t>Mandrile Virginia – Torcivia Pedro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13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E700EC1-1236-6FD1-32D4-750D94301690}"/>
              </a:ext>
            </a:extLst>
          </p:cNvPr>
          <p:cNvSpPr txBox="1">
            <a:spLocks/>
          </p:cNvSpPr>
          <p:nvPr/>
        </p:nvSpPr>
        <p:spPr>
          <a:xfrm>
            <a:off x="890338" y="640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b="1"/>
              <a:t>DIAGRAMA </a:t>
            </a:r>
            <a:br>
              <a:rPr lang="en-US" sz="5400" b="1"/>
            </a:br>
            <a:r>
              <a:rPr lang="en-US" sz="5400" b="1"/>
              <a:t>ENTIDAD</a:t>
            </a:r>
          </a:p>
          <a:p>
            <a:pPr>
              <a:spcAft>
                <a:spcPts val="600"/>
              </a:spcAft>
            </a:pPr>
            <a:r>
              <a:rPr lang="en-US" sz="5400" b="1"/>
              <a:t>RELACIÓN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A2569C7-5C38-3E62-EC00-0297A5D1E7C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525" y="-193878"/>
            <a:ext cx="6770253" cy="724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42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425A2D-7649-D707-5267-EBF4CCDD73C1}"/>
              </a:ext>
            </a:extLst>
          </p:cNvPr>
          <p:cNvSpPr txBox="1">
            <a:spLocks/>
          </p:cNvSpPr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VISTA GLOBAL DE DISEÑO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68142D-6F7F-8F2F-F4B0-3DDC4C152F1E}"/>
              </a:ext>
            </a:extLst>
          </p:cNvPr>
          <p:cNvSpPr txBox="1"/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(Diseño a nivel de contenedor)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D294C07D-5123-D69C-7F43-9D19A7835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511018"/>
            <a:ext cx="7214616" cy="380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5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21CCD0B-0F1D-D3D7-4EC3-9B8CEE3246AE}"/>
              </a:ext>
            </a:extLst>
          </p:cNvPr>
          <p:cNvSpPr txBox="1">
            <a:spLocks/>
          </p:cNvSpPr>
          <p:nvPr/>
        </p:nvSpPr>
        <p:spPr>
          <a:xfrm>
            <a:off x="789533" y="1316488"/>
            <a:ext cx="6031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MICROSERVICIOS PROPUESTOS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Block Arc 17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4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s-AR" sz="4000" b="1"/>
              <a:t>ServicioContenedores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715776"/>
              </p:ext>
            </p:extLst>
          </p:nvPr>
        </p:nvGraphicFramePr>
        <p:xfrm>
          <a:off x="838200" y="1859073"/>
          <a:ext cx="10506460" cy="42920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0003">
                  <a:extLst>
                    <a:ext uri="{9D8B030D-6E8A-4147-A177-3AD203B41FA5}">
                      <a16:colId xmlns:a16="http://schemas.microsoft.com/office/drawing/2014/main" val="3818273411"/>
                    </a:ext>
                  </a:extLst>
                </a:gridCol>
                <a:gridCol w="2998888">
                  <a:extLst>
                    <a:ext uri="{9D8B030D-6E8A-4147-A177-3AD203B41FA5}">
                      <a16:colId xmlns:a16="http://schemas.microsoft.com/office/drawing/2014/main" val="1263642574"/>
                    </a:ext>
                  </a:extLst>
                </a:gridCol>
                <a:gridCol w="976369">
                  <a:extLst>
                    <a:ext uri="{9D8B030D-6E8A-4147-A177-3AD203B41FA5}">
                      <a16:colId xmlns:a16="http://schemas.microsoft.com/office/drawing/2014/main" val="113020593"/>
                    </a:ext>
                  </a:extLst>
                </a:gridCol>
                <a:gridCol w="2197568">
                  <a:extLst>
                    <a:ext uri="{9D8B030D-6E8A-4147-A177-3AD203B41FA5}">
                      <a16:colId xmlns:a16="http://schemas.microsoft.com/office/drawing/2014/main" val="3232595912"/>
                    </a:ext>
                  </a:extLst>
                </a:gridCol>
                <a:gridCol w="1774732">
                  <a:extLst>
                    <a:ext uri="{9D8B030D-6E8A-4147-A177-3AD203B41FA5}">
                      <a16:colId xmlns:a16="http://schemas.microsoft.com/office/drawing/2014/main" val="536021479"/>
                    </a:ext>
                  </a:extLst>
                </a:gridCol>
                <a:gridCol w="1728900">
                  <a:extLst>
                    <a:ext uri="{9D8B030D-6E8A-4147-A177-3AD203B41FA5}">
                      <a16:colId xmlns:a16="http://schemas.microsoft.com/office/drawing/2014/main" val="3130429903"/>
                    </a:ext>
                  </a:extLst>
                </a:gridCol>
              </a:tblGrid>
              <a:tr h="317926">
                <a:tc>
                  <a:txBody>
                    <a:bodyPr/>
                    <a:lstStyle/>
                    <a:p>
                      <a:r>
                        <a:rPr lang="es-AR" sz="1300"/>
                        <a:t>Método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 dirty="0" err="1"/>
                        <a:t>Endpoint</a:t>
                      </a:r>
                      <a:endParaRPr lang="es-AR" sz="1300" dirty="0"/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Rol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Descripción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Entrada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Salida</a:t>
                      </a:r>
                    </a:p>
                  </a:txBody>
                  <a:tcPr marL="85159" marR="85159" marT="42579" marB="42579"/>
                </a:tc>
                <a:extLst>
                  <a:ext uri="{0D108BD9-81ED-4DB2-BD59-A6C34878D82A}">
                    <a16:rowId xmlns:a16="http://schemas.microsoft.com/office/drawing/2014/main" val="1575879131"/>
                  </a:ext>
                </a:extLst>
              </a:tr>
              <a:tr h="516630">
                <a:tc>
                  <a:txBody>
                    <a:bodyPr/>
                    <a:lstStyle/>
                    <a:p>
                      <a:r>
                        <a:rPr lang="es-AR" sz="1300"/>
                        <a:t>POST</a:t>
                      </a:r>
                    </a:p>
                  </a:txBody>
                  <a:tcPr marL="85159" marR="85159" marT="42579" marB="42579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/clientes</a:t>
                      </a:r>
                    </a:p>
                  </a:txBody>
                  <a:tcPr marL="85159" marR="85159" marT="42579" marB="42579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Operador</a:t>
                      </a:r>
                    </a:p>
                  </a:txBody>
                  <a:tcPr marL="85159" marR="85159" marT="42579" marB="42579" anchor="ctr"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Registrar un cliente nuevo si no existe.</a:t>
                      </a:r>
                    </a:p>
                  </a:txBody>
                  <a:tcPr marL="85159" marR="85159" marT="42579" marB="42579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{nombre, email, telefono}</a:t>
                      </a:r>
                    </a:p>
                  </a:txBody>
                  <a:tcPr marL="85159" marR="85159" marT="42579" marB="42579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Cliente creado con id.</a:t>
                      </a:r>
                    </a:p>
                  </a:txBody>
                  <a:tcPr marL="85159" marR="85159" marT="42579" marB="42579" anchor="ctr"/>
                </a:tc>
                <a:extLst>
                  <a:ext uri="{0D108BD9-81ED-4DB2-BD59-A6C34878D82A}">
                    <a16:rowId xmlns:a16="http://schemas.microsoft.com/office/drawing/2014/main" val="1559329265"/>
                  </a:ext>
                </a:extLst>
              </a:tr>
              <a:tr h="1112741">
                <a:tc>
                  <a:txBody>
                    <a:bodyPr/>
                    <a:lstStyle/>
                    <a:p>
                      <a:r>
                        <a:rPr lang="es-AR" sz="1300"/>
                        <a:t>POST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/contenedores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Operador /Cliente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Crear un contenedor asociado a cliente</a:t>
                      </a:r>
                      <a:endParaRPr lang="es-AR" sz="1300"/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{clienteId, peso, volumen}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Contenedor creado (id, codigoUnico) + Cliente con ID en caso de no estar registrado</a:t>
                      </a:r>
                    </a:p>
                  </a:txBody>
                  <a:tcPr marL="85159" marR="85159" marT="42579" marB="42579"/>
                </a:tc>
                <a:extLst>
                  <a:ext uri="{0D108BD9-81ED-4DB2-BD59-A6C34878D82A}">
                    <a16:rowId xmlns:a16="http://schemas.microsoft.com/office/drawing/2014/main" val="2334480464"/>
                  </a:ext>
                </a:extLst>
              </a:tr>
              <a:tr h="715334">
                <a:tc>
                  <a:txBody>
                    <a:bodyPr/>
                    <a:lstStyle/>
                    <a:p>
                      <a:r>
                        <a:rPr lang="es-AR" sz="1300"/>
                        <a:t>GET</a:t>
                      </a:r>
                    </a:p>
                  </a:txBody>
                  <a:tcPr marL="85159" marR="85159" marT="42579" marB="42579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/contenedores/{id}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300"/>
                        <a:t>Operador /Cliente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Consultar datos del contenedor.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id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JSON con datos (peso,volumen, estado).</a:t>
                      </a:r>
                      <a:endParaRPr lang="es-AR" sz="1300"/>
                    </a:p>
                  </a:txBody>
                  <a:tcPr marL="85159" marR="85159" marT="42579" marB="42579"/>
                </a:tc>
                <a:extLst>
                  <a:ext uri="{0D108BD9-81ED-4DB2-BD59-A6C34878D82A}">
                    <a16:rowId xmlns:a16="http://schemas.microsoft.com/office/drawing/2014/main" val="3014323643"/>
                  </a:ext>
                </a:extLst>
              </a:tr>
              <a:tr h="715334">
                <a:tc>
                  <a:txBody>
                    <a:bodyPr/>
                    <a:lstStyle/>
                    <a:p>
                      <a:r>
                        <a:rPr lang="es-AR" sz="1300"/>
                        <a:t>GET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/contenedores/{id}/seguimiento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Cliente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Consultar</a:t>
                      </a:r>
                      <a:r>
                        <a:rPr lang="es-ES" sz="1300" baseline="0"/>
                        <a:t> </a:t>
                      </a:r>
                      <a:r>
                        <a:rPr lang="es-ES" sz="1300"/>
                        <a:t>estado y ubicación actual del contenedor.</a:t>
                      </a:r>
                      <a:endParaRPr lang="es-AR" sz="1300"/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300"/>
                        <a:t>id</a:t>
                      </a:r>
                    </a:p>
                    <a:p>
                      <a:endParaRPr lang="es-AR" sz="1300"/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Lista cronológica: {fechaHora, estado, ubicacion}.</a:t>
                      </a:r>
                    </a:p>
                  </a:txBody>
                  <a:tcPr marL="85159" marR="85159" marT="42579" marB="42579"/>
                </a:tc>
                <a:extLst>
                  <a:ext uri="{0D108BD9-81ED-4DB2-BD59-A6C34878D82A}">
                    <a16:rowId xmlns:a16="http://schemas.microsoft.com/office/drawing/2014/main" val="347980188"/>
                  </a:ext>
                </a:extLst>
              </a:tr>
              <a:tr h="914037">
                <a:tc>
                  <a:txBody>
                    <a:bodyPr/>
                    <a:lstStyle/>
                    <a:p>
                      <a:r>
                        <a:rPr lang="es-AR" sz="1300"/>
                        <a:t>GET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/contenedores/pendientes?estado=...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Operador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Listar contenedores no entregados (con filtros).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Parámetros (estado, depositoId</a:t>
                      </a:r>
                    </a:p>
                  </a:txBody>
                  <a:tcPr marL="85159" marR="85159" marT="42579" marB="42579"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Lista de contenedores con ubicación y estado actual</a:t>
                      </a:r>
                      <a:endParaRPr lang="es-AR" sz="1300" dirty="0"/>
                    </a:p>
                  </a:txBody>
                  <a:tcPr marL="85159" marR="85159" marT="42579" marB="42579"/>
                </a:tc>
                <a:extLst>
                  <a:ext uri="{0D108BD9-81ED-4DB2-BD59-A6C34878D82A}">
                    <a16:rowId xmlns:a16="http://schemas.microsoft.com/office/drawing/2014/main" val="248436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301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s-AR" sz="4000" b="1"/>
              <a:t>ServicioTransporte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807955"/>
              </p:ext>
            </p:extLst>
          </p:nvPr>
        </p:nvGraphicFramePr>
        <p:xfrm>
          <a:off x="838200" y="2117810"/>
          <a:ext cx="10506458" cy="37745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4696">
                  <a:extLst>
                    <a:ext uri="{9D8B030D-6E8A-4147-A177-3AD203B41FA5}">
                      <a16:colId xmlns:a16="http://schemas.microsoft.com/office/drawing/2014/main" val="3818273411"/>
                    </a:ext>
                  </a:extLst>
                </a:gridCol>
                <a:gridCol w="1940913">
                  <a:extLst>
                    <a:ext uri="{9D8B030D-6E8A-4147-A177-3AD203B41FA5}">
                      <a16:colId xmlns:a16="http://schemas.microsoft.com/office/drawing/2014/main" val="1263642574"/>
                    </a:ext>
                  </a:extLst>
                </a:gridCol>
                <a:gridCol w="1200802">
                  <a:extLst>
                    <a:ext uri="{9D8B030D-6E8A-4147-A177-3AD203B41FA5}">
                      <a16:colId xmlns:a16="http://schemas.microsoft.com/office/drawing/2014/main" val="113020593"/>
                    </a:ext>
                  </a:extLst>
                </a:gridCol>
                <a:gridCol w="2433205">
                  <a:extLst>
                    <a:ext uri="{9D8B030D-6E8A-4147-A177-3AD203B41FA5}">
                      <a16:colId xmlns:a16="http://schemas.microsoft.com/office/drawing/2014/main" val="3232595912"/>
                    </a:ext>
                  </a:extLst>
                </a:gridCol>
                <a:gridCol w="1772793">
                  <a:extLst>
                    <a:ext uri="{9D8B030D-6E8A-4147-A177-3AD203B41FA5}">
                      <a16:colId xmlns:a16="http://schemas.microsoft.com/office/drawing/2014/main" val="536021479"/>
                    </a:ext>
                  </a:extLst>
                </a:gridCol>
                <a:gridCol w="2224049">
                  <a:extLst>
                    <a:ext uri="{9D8B030D-6E8A-4147-A177-3AD203B41FA5}">
                      <a16:colId xmlns:a16="http://schemas.microsoft.com/office/drawing/2014/main" val="3130429903"/>
                    </a:ext>
                  </a:extLst>
                </a:gridCol>
              </a:tblGrid>
              <a:tr h="340098">
                <a:tc>
                  <a:txBody>
                    <a:bodyPr/>
                    <a:lstStyle/>
                    <a:p>
                      <a:r>
                        <a:rPr lang="es-AR" sz="1500"/>
                        <a:t>Método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500"/>
                        <a:t>Endpoint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500"/>
                        <a:t>Rol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500"/>
                        <a:t>Descripción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500"/>
                        <a:t>Entrada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500"/>
                        <a:t>Salida</a:t>
                      </a:r>
                    </a:p>
                  </a:txBody>
                  <a:tcPr marL="83630" marR="83630" marT="41815" marB="41815"/>
                </a:tc>
                <a:extLst>
                  <a:ext uri="{0D108BD9-81ED-4DB2-BD59-A6C34878D82A}">
                    <a16:rowId xmlns:a16="http://schemas.microsoft.com/office/drawing/2014/main" val="1575879131"/>
                  </a:ext>
                </a:extLst>
              </a:tr>
              <a:tr h="702497">
                <a:tc>
                  <a:txBody>
                    <a:bodyPr/>
                    <a:lstStyle/>
                    <a:p>
                      <a:r>
                        <a:rPr lang="es-AR" sz="1300"/>
                        <a:t>POST</a:t>
                      </a:r>
                    </a:p>
                  </a:txBody>
                  <a:tcPr marL="83630" marR="83630" marT="41815" marB="41815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/solicitudes</a:t>
                      </a:r>
                    </a:p>
                  </a:txBody>
                  <a:tcPr marL="83630" marR="83630" marT="41815" marB="41815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Cliente</a:t>
                      </a:r>
                    </a:p>
                  </a:txBody>
                  <a:tcPr marL="83630" marR="83630" marT="41815" marB="41815" anchor="ctr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Registrar una</a:t>
                      </a:r>
                      <a:r>
                        <a:rPr lang="es-ES" sz="1300" baseline="0"/>
                        <a:t> solicitud de transporte</a:t>
                      </a:r>
                      <a:endParaRPr lang="es-ES" sz="1300"/>
                    </a:p>
                  </a:txBody>
                  <a:tcPr marL="83630" marR="83630" marT="41815" marB="41815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{clienteId, contenedorId, origen,</a:t>
                      </a:r>
                      <a:r>
                        <a:rPr lang="es-AR" sz="1300" baseline="0"/>
                        <a:t> </a:t>
                      </a:r>
                      <a:r>
                        <a:rPr lang="es-AR" sz="1300"/>
                        <a:t>destino}</a:t>
                      </a:r>
                    </a:p>
                  </a:txBody>
                  <a:tcPr marL="83630" marR="83630" marT="41815" marB="41815" anchor="ctr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Solicitud creada con estado borrador.</a:t>
                      </a:r>
                      <a:endParaRPr lang="es-AR" sz="1300"/>
                    </a:p>
                  </a:txBody>
                  <a:tcPr marL="83630" marR="83630" marT="41815" marB="41815" anchor="ctr"/>
                </a:tc>
                <a:extLst>
                  <a:ext uri="{0D108BD9-81ED-4DB2-BD59-A6C34878D82A}">
                    <a16:rowId xmlns:a16="http://schemas.microsoft.com/office/drawing/2014/main" val="1559329265"/>
                  </a:ext>
                </a:extLst>
              </a:tr>
              <a:tr h="507359">
                <a:tc>
                  <a:txBody>
                    <a:bodyPr/>
                    <a:lstStyle/>
                    <a:p>
                      <a:r>
                        <a:rPr lang="es-AR" sz="1300"/>
                        <a:t>GET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/solicitudes/{id}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Operador /Cliente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Consultar datos y estado de la solicitud.</a:t>
                      </a:r>
                      <a:endParaRPr lang="es-AR" sz="1300"/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id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JSON con solicitud, tramos y estado actual</a:t>
                      </a:r>
                      <a:endParaRPr lang="es-AR" sz="1300"/>
                    </a:p>
                  </a:txBody>
                  <a:tcPr marL="83630" marR="83630" marT="41815" marB="41815"/>
                </a:tc>
                <a:extLst>
                  <a:ext uri="{0D108BD9-81ED-4DB2-BD59-A6C34878D82A}">
                    <a16:rowId xmlns:a16="http://schemas.microsoft.com/office/drawing/2014/main" val="2334480464"/>
                  </a:ext>
                </a:extLst>
              </a:tr>
              <a:tr h="702497">
                <a:tc>
                  <a:txBody>
                    <a:bodyPr/>
                    <a:lstStyle/>
                    <a:p>
                      <a:r>
                        <a:rPr lang="es-AR" sz="1300"/>
                        <a:t>POST</a:t>
                      </a:r>
                    </a:p>
                  </a:txBody>
                  <a:tcPr marL="83630" marR="83630" marT="41815" marB="41815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/solicitudes/{id}/ruta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300"/>
                        <a:t>Operador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Generar ruta tentativa con tiempos y costos estimados (consulta Google Maps).</a:t>
                      </a:r>
                      <a:endParaRPr lang="es-AR" sz="1300"/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{origen, destino, contenedorId}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{distanciaTotalKm, tiempoEstimadoHoras, costoEstimado, tramos}</a:t>
                      </a:r>
                    </a:p>
                  </a:txBody>
                  <a:tcPr marL="83630" marR="83630" marT="41815" marB="41815"/>
                </a:tc>
                <a:extLst>
                  <a:ext uri="{0D108BD9-81ED-4DB2-BD59-A6C34878D82A}">
                    <a16:rowId xmlns:a16="http://schemas.microsoft.com/office/drawing/2014/main" val="3014323643"/>
                  </a:ext>
                </a:extLst>
              </a:tr>
              <a:tr h="507359">
                <a:tc>
                  <a:txBody>
                    <a:bodyPr/>
                    <a:lstStyle/>
                    <a:p>
                      <a:r>
                        <a:rPr lang="es-AR" sz="1300"/>
                        <a:t>POST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/tramos/{id}/asignar-camion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Operador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Asignar un camión a un tramo (valida capacidad).</a:t>
                      </a:r>
                      <a:endParaRPr lang="es-AR" sz="1300"/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300"/>
                        <a:t>{camionId}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Confirmación con costo estimado.</a:t>
                      </a:r>
                    </a:p>
                  </a:txBody>
                  <a:tcPr marL="83630" marR="83630" marT="41815" marB="41815"/>
                </a:tc>
                <a:extLst>
                  <a:ext uri="{0D108BD9-81ED-4DB2-BD59-A6C34878D82A}">
                    <a16:rowId xmlns:a16="http://schemas.microsoft.com/office/drawing/2014/main" val="347980188"/>
                  </a:ext>
                </a:extLst>
              </a:tr>
              <a:tr h="507359">
                <a:tc>
                  <a:txBody>
                    <a:bodyPr/>
                    <a:lstStyle/>
                    <a:p>
                      <a:r>
                        <a:rPr lang="es-AR" sz="1300"/>
                        <a:t>POST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/tramos/{id}/iniciar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Transportista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Registrar inicio del tramo.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300"/>
                        <a:t>idTramo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{estado:"iniciado", fechaHoraInicio}</a:t>
                      </a:r>
                    </a:p>
                  </a:txBody>
                  <a:tcPr marL="83630" marR="83630" marT="41815" marB="41815"/>
                </a:tc>
                <a:extLst>
                  <a:ext uri="{0D108BD9-81ED-4DB2-BD59-A6C34878D82A}">
                    <a16:rowId xmlns:a16="http://schemas.microsoft.com/office/drawing/2014/main" val="1271102844"/>
                  </a:ext>
                </a:extLst>
              </a:tr>
              <a:tr h="507359">
                <a:tc>
                  <a:txBody>
                    <a:bodyPr/>
                    <a:lstStyle/>
                    <a:p>
                      <a:r>
                        <a:rPr lang="es-AR" sz="1300"/>
                        <a:t>POST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/tramos/{id}/finalizar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Transportista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Registrar fin del tramo.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300"/>
                        <a:t>idTramo</a:t>
                      </a:r>
                    </a:p>
                  </a:txBody>
                  <a:tcPr marL="83630" marR="83630" marT="41815" marB="41815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{estado:“finalizar", fechaHoraFin,</a:t>
                      </a:r>
                      <a:r>
                        <a:rPr lang="es-AR" sz="1300" baseline="0"/>
                        <a:t> costoReal</a:t>
                      </a:r>
                      <a:r>
                        <a:rPr lang="es-AR" sz="1300"/>
                        <a:t>}</a:t>
                      </a:r>
                    </a:p>
                  </a:txBody>
                  <a:tcPr marL="83630" marR="83630" marT="41815" marB="41815"/>
                </a:tc>
                <a:extLst>
                  <a:ext uri="{0D108BD9-81ED-4DB2-BD59-A6C34878D82A}">
                    <a16:rowId xmlns:a16="http://schemas.microsoft.com/office/drawing/2014/main" val="1882967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98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s-AR" sz="4000" b="1"/>
              <a:t>ServicioFlota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670523"/>
              </p:ext>
            </p:extLst>
          </p:nvPr>
        </p:nvGraphicFramePr>
        <p:xfrm>
          <a:off x="838200" y="2900200"/>
          <a:ext cx="10506460" cy="22097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54657">
                  <a:extLst>
                    <a:ext uri="{9D8B030D-6E8A-4147-A177-3AD203B41FA5}">
                      <a16:colId xmlns:a16="http://schemas.microsoft.com/office/drawing/2014/main" val="3818273411"/>
                    </a:ext>
                  </a:extLst>
                </a:gridCol>
                <a:gridCol w="3378739">
                  <a:extLst>
                    <a:ext uri="{9D8B030D-6E8A-4147-A177-3AD203B41FA5}">
                      <a16:colId xmlns:a16="http://schemas.microsoft.com/office/drawing/2014/main" val="1263642574"/>
                    </a:ext>
                  </a:extLst>
                </a:gridCol>
                <a:gridCol w="1052565">
                  <a:extLst>
                    <a:ext uri="{9D8B030D-6E8A-4147-A177-3AD203B41FA5}">
                      <a16:colId xmlns:a16="http://schemas.microsoft.com/office/drawing/2014/main" val="113020593"/>
                    </a:ext>
                  </a:extLst>
                </a:gridCol>
                <a:gridCol w="1761987">
                  <a:extLst>
                    <a:ext uri="{9D8B030D-6E8A-4147-A177-3AD203B41FA5}">
                      <a16:colId xmlns:a16="http://schemas.microsoft.com/office/drawing/2014/main" val="3232595912"/>
                    </a:ext>
                  </a:extLst>
                </a:gridCol>
                <a:gridCol w="1979685">
                  <a:extLst>
                    <a:ext uri="{9D8B030D-6E8A-4147-A177-3AD203B41FA5}">
                      <a16:colId xmlns:a16="http://schemas.microsoft.com/office/drawing/2014/main" val="536021479"/>
                    </a:ext>
                  </a:extLst>
                </a:gridCol>
                <a:gridCol w="1478827">
                  <a:extLst>
                    <a:ext uri="{9D8B030D-6E8A-4147-A177-3AD203B41FA5}">
                      <a16:colId xmlns:a16="http://schemas.microsoft.com/office/drawing/2014/main" val="3130429903"/>
                    </a:ext>
                  </a:extLst>
                </a:gridCol>
              </a:tblGrid>
              <a:tr h="327370">
                <a:tc>
                  <a:txBody>
                    <a:bodyPr/>
                    <a:lstStyle/>
                    <a:p>
                      <a:r>
                        <a:rPr lang="es-AR" sz="1300"/>
                        <a:t>Método</a:t>
                      </a:r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Endpoint</a:t>
                      </a:r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Rol</a:t>
                      </a:r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Descripción</a:t>
                      </a:r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Entrada</a:t>
                      </a:r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Salida</a:t>
                      </a:r>
                    </a:p>
                  </a:txBody>
                  <a:tcPr marL="87688" marR="87688" marT="43844" marB="43844"/>
                </a:tc>
                <a:extLst>
                  <a:ext uri="{0D108BD9-81ED-4DB2-BD59-A6C34878D82A}">
                    <a16:rowId xmlns:a16="http://schemas.microsoft.com/office/drawing/2014/main" val="1575879131"/>
                  </a:ext>
                </a:extLst>
              </a:tr>
              <a:tr h="1145794">
                <a:tc>
                  <a:txBody>
                    <a:bodyPr/>
                    <a:lstStyle/>
                    <a:p>
                      <a:r>
                        <a:rPr lang="es-AR" sz="1300"/>
                        <a:t>POST</a:t>
                      </a:r>
                    </a:p>
                  </a:txBody>
                  <a:tcPr marL="87688" marR="87688" marT="43844" marB="43844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/camiones</a:t>
                      </a:r>
                    </a:p>
                  </a:txBody>
                  <a:tcPr marL="87688" marR="87688" marT="43844" marB="43844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Operador</a:t>
                      </a:r>
                    </a:p>
                  </a:txBody>
                  <a:tcPr marL="87688" marR="87688" marT="43844" marB="43844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Registrar un nuevo camión.</a:t>
                      </a:r>
                      <a:endParaRPr lang="es-ES" sz="1300"/>
                    </a:p>
                  </a:txBody>
                  <a:tcPr marL="87688" marR="87688" marT="43844" marB="43844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{dominio, capacidadPeso, capacidadVolumen, costoKm, consumoCombustible}</a:t>
                      </a:r>
                    </a:p>
                  </a:txBody>
                  <a:tcPr marL="87688" marR="87688" marT="43844" marB="43844" anchor="ctr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Camión creado con id.</a:t>
                      </a:r>
                    </a:p>
                  </a:txBody>
                  <a:tcPr marL="87688" marR="87688" marT="43844" marB="43844" anchor="ctr"/>
                </a:tc>
                <a:extLst>
                  <a:ext uri="{0D108BD9-81ED-4DB2-BD59-A6C34878D82A}">
                    <a16:rowId xmlns:a16="http://schemas.microsoft.com/office/drawing/2014/main" val="1559329265"/>
                  </a:ext>
                </a:extLst>
              </a:tr>
              <a:tr h="736582">
                <a:tc>
                  <a:txBody>
                    <a:bodyPr/>
                    <a:lstStyle/>
                    <a:p>
                      <a:r>
                        <a:rPr lang="es-AR" sz="1300"/>
                        <a:t>GET</a:t>
                      </a:r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/camiones/disponibles?peso=&amp;volumen=</a:t>
                      </a:r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Operador </a:t>
                      </a:r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Consultar camiones disponibles para un contenedor.</a:t>
                      </a:r>
                      <a:endParaRPr lang="es-AR" sz="1300"/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Query params: peso, volumen</a:t>
                      </a:r>
                    </a:p>
                  </a:txBody>
                  <a:tcPr marL="87688" marR="87688" marT="43844" marB="43844"/>
                </a:tc>
                <a:tc>
                  <a:txBody>
                    <a:bodyPr/>
                    <a:lstStyle/>
                    <a:p>
                      <a:r>
                        <a:rPr lang="es-AR" sz="1300"/>
                        <a:t>Lista de camiones aptos</a:t>
                      </a:r>
                    </a:p>
                  </a:txBody>
                  <a:tcPr marL="87688" marR="87688" marT="43844" marB="43844"/>
                </a:tc>
                <a:extLst>
                  <a:ext uri="{0D108BD9-81ED-4DB2-BD59-A6C34878D82A}">
                    <a16:rowId xmlns:a16="http://schemas.microsoft.com/office/drawing/2014/main" val="2334480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560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s-AR" sz="4000" b="1"/>
              <a:t>ServicioTarifas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452093"/>
              </p:ext>
            </p:extLst>
          </p:nvPr>
        </p:nvGraphicFramePr>
        <p:xfrm>
          <a:off x="838200" y="2585248"/>
          <a:ext cx="10506459" cy="28396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5183">
                  <a:extLst>
                    <a:ext uri="{9D8B030D-6E8A-4147-A177-3AD203B41FA5}">
                      <a16:colId xmlns:a16="http://schemas.microsoft.com/office/drawing/2014/main" val="3818273411"/>
                    </a:ext>
                  </a:extLst>
                </a:gridCol>
                <a:gridCol w="1443350">
                  <a:extLst>
                    <a:ext uri="{9D8B030D-6E8A-4147-A177-3AD203B41FA5}">
                      <a16:colId xmlns:a16="http://schemas.microsoft.com/office/drawing/2014/main" val="1263642574"/>
                    </a:ext>
                  </a:extLst>
                </a:gridCol>
                <a:gridCol w="2126078">
                  <a:extLst>
                    <a:ext uri="{9D8B030D-6E8A-4147-A177-3AD203B41FA5}">
                      <a16:colId xmlns:a16="http://schemas.microsoft.com/office/drawing/2014/main" val="113020593"/>
                    </a:ext>
                  </a:extLst>
                </a:gridCol>
                <a:gridCol w="1689321">
                  <a:extLst>
                    <a:ext uri="{9D8B030D-6E8A-4147-A177-3AD203B41FA5}">
                      <a16:colId xmlns:a16="http://schemas.microsoft.com/office/drawing/2014/main" val="3232595912"/>
                    </a:ext>
                  </a:extLst>
                </a:gridCol>
                <a:gridCol w="2185994">
                  <a:extLst>
                    <a:ext uri="{9D8B030D-6E8A-4147-A177-3AD203B41FA5}">
                      <a16:colId xmlns:a16="http://schemas.microsoft.com/office/drawing/2014/main" val="536021479"/>
                    </a:ext>
                  </a:extLst>
                </a:gridCol>
                <a:gridCol w="2176533">
                  <a:extLst>
                    <a:ext uri="{9D8B030D-6E8A-4147-A177-3AD203B41FA5}">
                      <a16:colId xmlns:a16="http://schemas.microsoft.com/office/drawing/2014/main" val="3130429903"/>
                    </a:ext>
                  </a:extLst>
                </a:gridCol>
              </a:tblGrid>
              <a:tr h="339063">
                <a:tc>
                  <a:txBody>
                    <a:bodyPr/>
                    <a:lstStyle/>
                    <a:p>
                      <a:r>
                        <a:rPr lang="es-AR" sz="1400" dirty="0"/>
                        <a:t>Método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 err="1"/>
                        <a:t>Endpoint</a:t>
                      </a:r>
                      <a:endParaRPr lang="es-AR" sz="1400" dirty="0"/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Rol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Descripción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Entrada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Salida</a:t>
                      </a:r>
                    </a:p>
                  </a:txBody>
                  <a:tcPr marL="90820" marR="90820" marT="45410" marB="45410"/>
                </a:tc>
                <a:extLst>
                  <a:ext uri="{0D108BD9-81ED-4DB2-BD59-A6C34878D82A}">
                    <a16:rowId xmlns:a16="http://schemas.microsoft.com/office/drawing/2014/main" val="1575879131"/>
                  </a:ext>
                </a:extLst>
              </a:tr>
              <a:tr h="762891">
                <a:tc>
                  <a:txBody>
                    <a:bodyPr/>
                    <a:lstStyle/>
                    <a:p>
                      <a:r>
                        <a:rPr lang="es-AR" sz="1400" dirty="0"/>
                        <a:t>POST</a:t>
                      </a:r>
                    </a:p>
                  </a:txBody>
                  <a:tcPr marL="90820" marR="90820" marT="45410" marB="45410" anchor="ctr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/tarifas</a:t>
                      </a:r>
                    </a:p>
                  </a:txBody>
                  <a:tcPr marL="90820" marR="90820" marT="45410" marB="45410" anchor="ctr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Operador</a:t>
                      </a:r>
                    </a:p>
                  </a:txBody>
                  <a:tcPr marL="90820" marR="90820" marT="45410" marB="45410" anchor="ctr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Listar todos los Registrar nueva tarifa de traslado.</a:t>
                      </a:r>
                      <a:endParaRPr lang="es-ES" sz="1400" dirty="0"/>
                    </a:p>
                  </a:txBody>
                  <a:tcPr marL="90820" marR="90820" marT="45410" marB="45410" anchor="ctr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{</a:t>
                      </a:r>
                      <a:r>
                        <a:rPr lang="es-AR" sz="1400" dirty="0" err="1"/>
                        <a:t>costoBaseKm</a:t>
                      </a:r>
                      <a:r>
                        <a:rPr lang="es-AR" sz="1400" dirty="0"/>
                        <a:t>, </a:t>
                      </a:r>
                      <a:r>
                        <a:rPr lang="es-AR" sz="1400" dirty="0" err="1"/>
                        <a:t>valorLitroCombustible</a:t>
                      </a:r>
                      <a:r>
                        <a:rPr lang="es-AR" sz="1400" dirty="0"/>
                        <a:t>, </a:t>
                      </a:r>
                      <a:r>
                        <a:rPr lang="es-AR" sz="1400" dirty="0" err="1"/>
                        <a:t>cargoGestionPorTramo</a:t>
                      </a:r>
                      <a:r>
                        <a:rPr lang="es-AR" sz="1400" dirty="0"/>
                        <a:t>}</a:t>
                      </a:r>
                    </a:p>
                  </a:txBody>
                  <a:tcPr marL="90820" marR="90820" marT="45410" marB="45410" anchor="ctr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Tarifa creada (id).</a:t>
                      </a:r>
                    </a:p>
                  </a:txBody>
                  <a:tcPr marL="90820" marR="90820" marT="45410" marB="45410" anchor="ctr"/>
                </a:tc>
                <a:extLst>
                  <a:ext uri="{0D108BD9-81ED-4DB2-BD59-A6C34878D82A}">
                    <a16:rowId xmlns:a16="http://schemas.microsoft.com/office/drawing/2014/main" val="1559329265"/>
                  </a:ext>
                </a:extLst>
              </a:tr>
              <a:tr h="762891">
                <a:tc>
                  <a:txBody>
                    <a:bodyPr/>
                    <a:lstStyle/>
                    <a:p>
                      <a:r>
                        <a:rPr lang="es-AR" sz="1400" dirty="0"/>
                        <a:t>PUT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/tarifas/{id}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Operador 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Actualizar valores de una tarifa existente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{</a:t>
                      </a:r>
                      <a:r>
                        <a:rPr lang="es-AR" sz="1400" dirty="0" err="1"/>
                        <a:t>costoBaseKm</a:t>
                      </a:r>
                      <a:r>
                        <a:rPr lang="es-AR" sz="1400" dirty="0"/>
                        <a:t>?, </a:t>
                      </a:r>
                      <a:r>
                        <a:rPr lang="es-AR" sz="1400" dirty="0" err="1"/>
                        <a:t>valorLitroCombustible</a:t>
                      </a:r>
                      <a:r>
                        <a:rPr lang="es-AR" sz="1400" dirty="0"/>
                        <a:t>?, </a:t>
                      </a:r>
                      <a:r>
                        <a:rPr lang="es-AR" sz="1400" dirty="0" err="1"/>
                        <a:t>cargoGestionPorTramo</a:t>
                      </a:r>
                      <a:r>
                        <a:rPr lang="es-AR" sz="1400" dirty="0"/>
                        <a:t>?}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Tarifa</a:t>
                      </a:r>
                      <a:r>
                        <a:rPr lang="es-AR" sz="1400" baseline="0" dirty="0"/>
                        <a:t> actualizada</a:t>
                      </a:r>
                      <a:endParaRPr lang="es-AR" sz="1400" dirty="0"/>
                    </a:p>
                  </a:txBody>
                  <a:tcPr marL="90820" marR="90820" marT="45410" marB="45410"/>
                </a:tc>
                <a:extLst>
                  <a:ext uri="{0D108BD9-81ED-4DB2-BD59-A6C34878D82A}">
                    <a16:rowId xmlns:a16="http://schemas.microsoft.com/office/drawing/2014/main" val="2334480464"/>
                  </a:ext>
                </a:extLst>
              </a:tr>
              <a:tr h="974805">
                <a:tc>
                  <a:txBody>
                    <a:bodyPr/>
                    <a:lstStyle/>
                    <a:p>
                      <a:r>
                        <a:rPr lang="es-AR" sz="1400" dirty="0"/>
                        <a:t>GET</a:t>
                      </a:r>
                    </a:p>
                  </a:txBody>
                  <a:tcPr marL="90820" marR="90820" marT="45410" marB="45410" anchor="ctr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/tarifas/vigente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/>
                        <a:t>Transportista/operador 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Consultar tarifa vigente para cálculos de costo</a:t>
                      </a:r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-</a:t>
                      </a:r>
                      <a:r>
                        <a:rPr lang="es-AR" sz="1400" baseline="0" dirty="0"/>
                        <a:t> </a:t>
                      </a:r>
                      <a:endParaRPr lang="es-AR" sz="1400" dirty="0"/>
                    </a:p>
                  </a:txBody>
                  <a:tcPr marL="90820" marR="90820" marT="45410" marB="45410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{</a:t>
                      </a:r>
                      <a:r>
                        <a:rPr lang="es-AR" sz="1400" dirty="0" err="1"/>
                        <a:t>costoBaseKm</a:t>
                      </a:r>
                      <a:r>
                        <a:rPr lang="es-AR" sz="1400" dirty="0"/>
                        <a:t>, </a:t>
                      </a:r>
                      <a:r>
                        <a:rPr lang="es-AR" sz="1400" dirty="0" err="1"/>
                        <a:t>valorLitroCombustible</a:t>
                      </a:r>
                      <a:r>
                        <a:rPr lang="es-AR" sz="1400" dirty="0"/>
                        <a:t>, </a:t>
                      </a:r>
                      <a:r>
                        <a:rPr lang="es-AR" sz="1400" dirty="0" err="1"/>
                        <a:t>cargoGestionPorTramo</a:t>
                      </a:r>
                      <a:r>
                        <a:rPr lang="es-AR" sz="1400" dirty="0"/>
                        <a:t>, </a:t>
                      </a:r>
                      <a:r>
                        <a:rPr lang="es-AR" sz="1400" dirty="0" err="1"/>
                        <a:t>fechaVigencia</a:t>
                      </a:r>
                      <a:r>
                        <a:rPr lang="es-AR" sz="1400" dirty="0"/>
                        <a:t>}</a:t>
                      </a:r>
                    </a:p>
                  </a:txBody>
                  <a:tcPr marL="90820" marR="90820" marT="45410" marB="45410"/>
                </a:tc>
                <a:extLst>
                  <a:ext uri="{0D108BD9-81ED-4DB2-BD59-A6C34878D82A}">
                    <a16:rowId xmlns:a16="http://schemas.microsoft.com/office/drawing/2014/main" val="301432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1210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4312</TotalTime>
  <Words>478</Words>
  <Application>Microsoft Office PowerPoint</Application>
  <PresentationFormat>Panorámica</PresentationFormat>
  <Paragraphs>132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Tema de Office</vt:lpstr>
      <vt:lpstr>TPI-BACKEND DE APLICACIONES</vt:lpstr>
      <vt:lpstr>Presentación de PowerPoint</vt:lpstr>
      <vt:lpstr>Presentación de PowerPoint</vt:lpstr>
      <vt:lpstr>Presentación de PowerPoint</vt:lpstr>
      <vt:lpstr>ServicioContenedores</vt:lpstr>
      <vt:lpstr>ServicioTransporte</vt:lpstr>
      <vt:lpstr>ServicioFlota</vt:lpstr>
      <vt:lpstr>ServicioTarifas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TPI-BACKEND DE APLICACIONES</dc:title>
  <dc:creator>Pedro Torcivia.</dc:creator>
  <cp:lastModifiedBy>Pedro Torcivia.</cp:lastModifiedBy>
  <cp:revision>12</cp:revision>
  <dcterms:created xsi:type="dcterms:W3CDTF">2025-10-15T12:34:43Z</dcterms:created>
  <dcterms:modified xsi:type="dcterms:W3CDTF">2025-10-18T13:28:42Z</dcterms:modified>
</cp:coreProperties>
</file>